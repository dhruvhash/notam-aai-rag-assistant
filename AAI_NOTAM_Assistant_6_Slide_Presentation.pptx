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097280"/>
            <a:ext cx="5303520" cy="411480"/>
          </a:xfrm>
          <a:prstGeom prst="roundRect">
            <a:avLst/>
          </a:prstGeom>
          <a:solidFill>
            <a:srgbClr val="1E3A8A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EA5E9"/>
                </a:solidFill>
              </a:defRPr>
            </a:pPr>
            <a:r>
              <a:t>AIRPORTS AUTHORITY OF INDIA (AAI) | NORTHERN REGION IT DEPT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Calibri"/>
              </a:defRPr>
            </a:pPr>
            <a:r>
              <a:t>AI-Powered NOTAM Assistant</a:t>
            </a:r>
          </a:p>
          <a:p>
            <a:pPr>
              <a:defRPr sz="2000">
                <a:solidFill>
                  <a:srgbClr val="0EA5E9"/>
                </a:solidFill>
                <a:latin typeface="Calibri"/>
              </a:defRPr>
            </a:pPr>
            <a:r>
              <a:t>A Retrieval Augmented Generation (RAG) System for Aviation Notice to Airmen Decoding &amp; Query Resolution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3657600"/>
            <a:ext cx="10362895" cy="1828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3931920"/>
            <a:ext cx="3291840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500" b="1">
                <a:solidFill>
                  <a:srgbClr val="0EA5E9"/>
                </a:solidFill>
              </a:defRPr>
            </a:pPr>
            <a:r>
              <a:t>Problem Addressed</a:t>
            </a:r>
          </a:p>
          <a:p>
            <a:pPr>
              <a:defRPr sz="1200">
                <a:solidFill>
                  <a:srgbClr val="E2E8F0"/>
                </a:solidFill>
              </a:defRPr>
            </a:pPr>
            <a:r>
              <a:t>Dense, abbreviated NOTAM text blocks cause high reading overhead and delay critical pre-flight interpretation.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3931920"/>
            <a:ext cx="3291840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500" b="1">
                <a:solidFill>
                  <a:srgbClr val="0EA5E9"/>
                </a:solidFill>
              </a:defRPr>
            </a:pPr>
            <a:r>
              <a:t>Technical Innovation</a:t>
            </a:r>
          </a:p>
          <a:p>
            <a:pPr>
              <a:defRPr sz="1200">
                <a:solidFill>
                  <a:srgbClr val="E2E8F0"/>
                </a:solidFill>
              </a:defRPr>
            </a:pPr>
            <a:r>
              <a:t>Combines PyMuPDF, SentenceTransformers, ChromaDB vector store, and Groq Llama 3.1 LLM.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3931920"/>
            <a:ext cx="3291840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500" b="1">
                <a:solidFill>
                  <a:srgbClr val="0EA5E9"/>
                </a:solidFill>
              </a:defRPr>
            </a:pPr>
            <a:r>
              <a:t>Core Guarantee</a:t>
            </a:r>
          </a:p>
          <a:p>
            <a:pPr>
              <a:defRPr sz="1200">
                <a:solidFill>
                  <a:srgbClr val="E2E8F0"/>
                </a:solidFill>
              </a:defRPr>
            </a:pPr>
            <a:r>
              <a:t>Strict source grounding to eliminate AI hallucination and provide verifiable, source-cited responses.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t>AIRPORTS AUTHORITY OF INDIA | IT DEPARTMENT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Background &amp; Operational Problem Statement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AI-Powered NOTAM Assistant | Retrieval Augmented Generation (RAG) System</a:t>
            </a:r>
          </a:p>
          <a:p>
            <a:pPr algn="r">
              <a:defRPr sz="900" b="1">
                <a:solidFill>
                  <a:srgbClr val="2563EB"/>
                </a:solidFill>
                <a:latin typeface="Calibri"/>
              </a:defRPr>
            </a:pPr>
            <a:r>
              <a:t>Slide 2 of 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800" b="1">
                <a:solidFill>
                  <a:srgbClr val="1E3A8A"/>
                </a:solidFill>
              </a:defRPr>
            </a:pPr>
            <a:r>
              <a:t>The NOTAM Information Bottleneck</a:t>
            </a:r>
          </a:p>
          <a:p>
            <a:pPr>
              <a:defRPr b="1" sz="1200">
                <a:solidFill>
                  <a:srgbClr val="1E293B"/>
                </a:solidFill>
              </a:defRPr>
            </a:pPr>
            <a:r>
              <a:t>• Dense Shorthand Standards: </a:t>
            </a:r>
            <a:r>
              <a:rPr b="0" sz="1200">
                <a:solidFill>
                  <a:srgbClr val="64748B"/>
                </a:solidFill>
              </a:rPr>
              <a:t>NOTAMs follow ICAO formats using complex Q-codes, contractions (e.g., TWY C CLSD, ILS GP OTS UFN), and raw geographic coordinates.</a:t>
            </a:r>
          </a:p>
          <a:p>
            <a:pPr>
              <a:defRPr b="1" sz="1200">
                <a:solidFill>
                  <a:srgbClr val="1E293B"/>
                </a:solidFill>
              </a:defRPr>
            </a:pPr>
            <a:r>
              <a:t>• High Cognitive Burden: </a:t>
            </a:r>
            <a:r>
              <a:rPr b="0" sz="1200">
                <a:solidFill>
                  <a:srgbClr val="64748B"/>
                </a:solidFill>
              </a:rPr>
              <a:t>Aviation personnel (pilots, dispatchers, ATC) must manually parse multi-page PDF bulletins under time-sensitive pre-flight pressure.</a:t>
            </a:r>
          </a:p>
          <a:p>
            <a:pPr>
              <a:defRPr b="1" sz="1200">
                <a:solidFill>
                  <a:srgbClr val="1E293B"/>
                </a:solidFill>
              </a:defRPr>
            </a:pPr>
            <a:r>
              <a:t>• Search &amp; Retrieval Deficit: </a:t>
            </a:r>
            <a:r>
              <a:rPr b="0" sz="1200">
                <a:solidFill>
                  <a:srgbClr val="64748B"/>
                </a:solidFill>
              </a:rPr>
              <a:t>Traditional static PDF bulletins lack semantic search capabilities, forcing staff to scan entire text blocks to locate relevant runway or airspace restrictions.</a:t>
            </a:r>
          </a:p>
          <a:p>
            <a:pPr>
              <a:defRPr b="1" sz="1200">
                <a:solidFill>
                  <a:srgbClr val="1E293B"/>
                </a:solidFill>
              </a:defRPr>
            </a:pPr>
            <a:r>
              <a:t>• Risk of Misinterpretation: </a:t>
            </a:r>
            <a:r>
              <a:rPr b="0" sz="1200">
                <a:solidFill>
                  <a:srgbClr val="64748B"/>
                </a:solidFill>
              </a:rPr>
              <a:t>Manual decoding increases likelihood of missing critical hazard updates or misinterpreting validity time windows across multiple notices.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21208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800" b="1">
                <a:solidFill>
                  <a:srgbClr val="1E3A8A"/>
                </a:solidFill>
              </a:defRPr>
            </a:pPr>
            <a:r>
              <a:t>Safety-First RAG Approach vs General AI</a:t>
            </a:r>
          </a:p>
          <a:p>
            <a:pPr>
              <a:defRPr b="1" sz="1200">
                <a:solidFill>
                  <a:srgbClr val="1E293B"/>
                </a:solidFill>
              </a:defRPr>
            </a:pPr>
            <a:r>
              <a:t>• The Hallucination Risk: </a:t>
            </a:r>
            <a:r>
              <a:rPr b="0" sz="1200">
                <a:solidFill>
                  <a:srgbClr val="64748B"/>
                </a:solidFill>
              </a:rPr>
              <a:t>General-purpose conversational AI models can generate plausible-sounding but completely fabricated operational answers—unacceptable in aviation safety.</a:t>
            </a:r>
          </a:p>
          <a:p>
            <a:pPr>
              <a:defRPr b="1" sz="1200">
                <a:solidFill>
                  <a:srgbClr val="1E293B"/>
                </a:solidFill>
              </a:defRPr>
            </a:pPr>
            <a:r>
              <a:t>• Retrieval Augmented Generation (RAG): </a:t>
            </a:r>
            <a:r>
              <a:rPr b="0" sz="1200">
                <a:solidFill>
                  <a:srgbClr val="64748B"/>
                </a:solidFill>
              </a:rPr>
              <a:t>Restricts language model generation exclusively to retrieved, verified NOTAM bulletin records stored in a vector database.</a:t>
            </a:r>
          </a:p>
          <a:p>
            <a:pPr>
              <a:defRPr b="1" sz="1200">
                <a:solidFill>
                  <a:srgbClr val="1E293B"/>
                </a:solidFill>
              </a:defRPr>
            </a:pPr>
            <a:r>
              <a:t>• 100% Traceability &amp; Citation: </a:t>
            </a:r>
            <a:r>
              <a:rPr b="0" sz="1200">
                <a:solidFill>
                  <a:srgbClr val="64748B"/>
                </a:solidFill>
              </a:rPr>
              <a:t>Every generated plain-English answer is explicitly linked to the exact source NOTAM chunk and raw text for human verification.</a:t>
            </a:r>
          </a:p>
          <a:p>
            <a:pPr>
              <a:defRPr b="1" sz="1200">
                <a:solidFill>
                  <a:srgbClr val="1E293B"/>
                </a:solidFill>
              </a:defRPr>
            </a:pPr>
            <a:r>
              <a:t>• Explicit Fallback Mechanism: </a:t>
            </a:r>
            <a:r>
              <a:rPr b="0" sz="1200">
                <a:solidFill>
                  <a:srgbClr val="64748B"/>
                </a:solidFill>
              </a:rPr>
              <a:t>If information is absent from bulletins, the assistant explicitly states 'No relevant NOTAM found' rather than guessing.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t>AIRPORTS AUTHORITY OF INDIA | IT DEPARTMENT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System Architecture &amp; Microservice Technology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AI-Powered NOTAM Assistant | Retrieval Augmented Generation (RAG) System</a:t>
            </a:r>
          </a:p>
          <a:p>
            <a:pPr algn="r">
              <a:defRPr sz="900" b="1">
                <a:solidFill>
                  <a:srgbClr val="2563EB"/>
                </a:solidFill>
                <a:latin typeface="Calibri"/>
              </a:defRPr>
            </a:pPr>
            <a:r>
              <a:t>Slide 3 of 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342900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822960" lIns="182880" rIns="182880"/>
          <a:lstStyle/>
          <a:p>
            <a:pPr algn="ctr"/>
          </a:p>
          <a:p>
            <a:pPr>
              <a:defRPr b="1" sz="1100">
                <a:solidFill>
                  <a:srgbClr val="1E293B"/>
                </a:solidFill>
              </a:defRPr>
            </a:pPr>
            <a:r>
              <a:t>• Interactive UI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  Dashboard overview, Live NOTAM feed, Chat view, Bookmarks</a:t>
            </a:r>
          </a:p>
          <a:p>
            <a:pPr>
              <a:defRPr b="1" sz="1100">
                <a:solidFill>
                  <a:srgbClr val="1E293B"/>
                </a:solidFill>
              </a:defRPr>
            </a:pPr>
            <a:r>
              <a:t>• Theme System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  Light &amp; Dark modes optimized for low-light flight deck visibility</a:t>
            </a:r>
          </a:p>
          <a:p>
            <a:pPr>
              <a:defRPr b="1" sz="1100">
                <a:solidFill>
                  <a:srgbClr val="1E293B"/>
                </a:solidFill>
              </a:defRPr>
            </a:pPr>
            <a:r>
              <a:t>• Role-Based Views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  Tailored navigation for Pilot, Controller, Dispatcher, and Admin</a:t>
            </a:r>
          </a:p>
          <a:p>
            <a:pPr>
              <a:defRPr b="1" sz="1100">
                <a:solidFill>
                  <a:srgbClr val="1E293B"/>
                </a:solidFill>
              </a:defRPr>
            </a:pPr>
            <a:r>
              <a:t>• Asynchronous UI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  Real-time job progress tracking during multi-page PDF processing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463040"/>
            <a:ext cx="3246120" cy="6858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1. Presentation Tier (Frontend)</a:t>
            </a:r>
          </a:p>
          <a:p>
            <a:pPr>
              <a:defRPr sz="1100">
                <a:solidFill>
                  <a:srgbClr val="0EA5E9"/>
                </a:solidFill>
              </a:defRPr>
            </a:pPr>
            <a:r>
              <a:t>React 19 &amp; Tailwind CSS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371600"/>
            <a:ext cx="342900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822960" lIns="182880" rIns="182880"/>
          <a:lstStyle/>
          <a:p>
            <a:pPr algn="ctr"/>
          </a:p>
          <a:p>
            <a:pPr>
              <a:defRPr b="1" sz="1100">
                <a:solidFill>
                  <a:srgbClr val="1E293B"/>
                </a:solidFill>
              </a:defRPr>
            </a:pPr>
            <a:r>
              <a:t>• JWT Authentication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  HttpOnly cookies &amp; bcrypt password hashing for secure sessions</a:t>
            </a:r>
          </a:p>
          <a:p>
            <a:pPr>
              <a:defRPr b="1" sz="1100">
                <a:solidFill>
                  <a:srgbClr val="1E293B"/>
                </a:solidFill>
              </a:defRPr>
            </a:pPr>
            <a:r>
              <a:t>• Structured Data Store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  MongoDB + Mongoose for users, metadata &amp; saved bookmarks</a:t>
            </a:r>
          </a:p>
          <a:p>
            <a:pPr>
              <a:defRPr b="1" sz="1100">
                <a:solidFill>
                  <a:srgbClr val="1E293B"/>
                </a:solidFill>
              </a:defRPr>
            </a:pPr>
            <a:r>
              <a:t>• Service Proxy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  Routes uploads &amp; natural language queries to Python AI backend</a:t>
            </a:r>
          </a:p>
          <a:p>
            <a:pPr>
              <a:defRPr b="1" sz="1100">
                <a:solidFill>
                  <a:srgbClr val="1E293B"/>
                </a:solidFill>
              </a:defRPr>
            </a:pPr>
            <a:r>
              <a:t>• Decoupled Design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  Ensures interface remains functional even if AI service reboots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463040"/>
            <a:ext cx="3246120" cy="68580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2. Application Gateway Tier</a:t>
            </a:r>
          </a:p>
          <a:p>
            <a:pPr>
              <a:defRPr sz="1100">
                <a:solidFill>
                  <a:srgbClr val="0EA5E9"/>
                </a:solidFill>
              </a:defRPr>
            </a:pPr>
            <a:r>
              <a:t>Node.js &amp; Express API Gateway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80" y="1371600"/>
            <a:ext cx="342900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822960" lIns="182880" rIns="182880"/>
          <a:lstStyle/>
          <a:p>
            <a:pPr algn="ctr"/>
          </a:p>
          <a:p>
            <a:pPr>
              <a:defRPr b="1" sz="1100">
                <a:solidFill>
                  <a:srgbClr val="1E293B"/>
                </a:solidFill>
              </a:defRPr>
            </a:pPr>
            <a:r>
              <a:t>• PDF Parser &amp; Ingestion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  PyMuPDF text extraction with regex pattern-based segmentation</a:t>
            </a:r>
          </a:p>
          <a:p>
            <a:pPr>
              <a:defRPr b="1" sz="1100">
                <a:solidFill>
                  <a:srgbClr val="1E293B"/>
                </a:solidFill>
              </a:defRPr>
            </a:pPr>
            <a:r>
              <a:t>• Contraction Decoder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  Batch LLM decoding of dense ICAO shorthand to plain text</a:t>
            </a:r>
          </a:p>
          <a:p>
            <a:pPr>
              <a:defRPr b="1" sz="1100">
                <a:solidFill>
                  <a:srgbClr val="1E293B"/>
                </a:solidFill>
              </a:defRPr>
            </a:pPr>
            <a:r>
              <a:t>• Vector Storage Engine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  SentenceTransformers (all-MiniLM-L6-v2) + ChromaDB (384-dim)</a:t>
            </a:r>
          </a:p>
          <a:p>
            <a:pPr>
              <a:defRPr b="1" sz="1100">
                <a:solidFill>
                  <a:srgbClr val="1E293B"/>
                </a:solidFill>
              </a:defRPr>
            </a:pPr>
            <a:r>
              <a:t>• Grounded Generation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  Groq Cloud (Llama 3.1) executing source-constrained prompts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463040"/>
            <a:ext cx="3246120" cy="6858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3. AI &amp; RAG Microservice Tier</a:t>
            </a:r>
          </a:p>
          <a:p>
            <a:pPr>
              <a:defRPr sz="1100">
                <a:solidFill>
                  <a:srgbClr val="0EA5E9"/>
                </a:solidFill>
              </a:defRPr>
            </a:pPr>
            <a:r>
              <a:t>Python &amp; FastAPI Ecosystem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t>AIRPORTS AUTHORITY OF INDIA | IT DEPARTMENT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End-to-End RAG Processing Workflow &amp; Functional Modules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AI-Powered NOTAM Assistant | Retrieval Augmented Generation (RAG) System</a:t>
            </a:r>
          </a:p>
          <a:p>
            <a:pPr algn="r">
              <a:defRPr sz="900" b="1">
                <a:solidFill>
                  <a:srgbClr val="2563EB"/>
                </a:solidFill>
                <a:latin typeface="Calibri"/>
              </a:defRPr>
            </a:pPr>
            <a:r>
              <a:t>Slide 4 of 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2514600" cy="1554480"/>
          </a:xfrm>
          <a:prstGeom prst="roundRect">
            <a:avLst/>
          </a:prstGeom>
          <a:solidFill>
            <a:srgbClr val="1E3A8A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1. Ingestion &amp; Split</a:t>
            </a:r>
          </a:p>
          <a:p>
            <a:pPr>
              <a:defRPr sz="1000">
                <a:solidFill>
                  <a:srgbClr val="F1F5F9"/>
                </a:solidFill>
              </a:defRPr>
            </a:pPr>
            <a:r>
              <a:t>PyMuPDF extracts PDF text; pattern matching segments bulletin into discrete NOTAM records.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371600"/>
            <a:ext cx="2514600" cy="1554480"/>
          </a:xfrm>
          <a:prstGeom prst="roundRect">
            <a:avLst/>
          </a:prstGeom>
          <a:solidFill>
            <a:srgbClr val="2563E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2. Batch Decoding</a:t>
            </a:r>
          </a:p>
          <a:p>
            <a:pPr>
              <a:defRPr sz="1000">
                <a:solidFill>
                  <a:srgbClr val="F1F5F9"/>
                </a:solidFill>
              </a:defRPr>
            </a:pPr>
            <a:r>
              <a:t>LLM converts dense ICAO contractions to structured plain English in high-throughput batches.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371600"/>
            <a:ext cx="2514600" cy="1554480"/>
          </a:xfrm>
          <a:prstGeom prst="roundRect">
            <a:avLst/>
          </a:prstGeom>
          <a:solidFill>
            <a:srgbClr val="1E3A8A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3. Vector Indexing</a:t>
            </a:r>
          </a:p>
          <a:p>
            <a:pPr>
              <a:defRPr sz="1000">
                <a:solidFill>
                  <a:srgbClr val="F1F5F9"/>
                </a:solidFill>
              </a:defRPr>
            </a:pPr>
            <a:r>
              <a:t>SentenceTransformers generates 384-dim embeddings stored with metadata in ChromaDB.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23960" y="1371600"/>
            <a:ext cx="2514600" cy="1554480"/>
          </a:xfrm>
          <a:prstGeom prst="roundRect">
            <a:avLst/>
          </a:prstGeom>
          <a:solidFill>
            <a:srgbClr val="2563E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4. Grounded Q&amp;A</a:t>
            </a:r>
          </a:p>
          <a:p>
            <a:pPr>
              <a:defRPr sz="1000">
                <a:solidFill>
                  <a:srgbClr val="F1F5F9"/>
                </a:solidFill>
              </a:defRPr>
            </a:pPr>
            <a:r>
              <a:t>Semantic query match retrieves top context; Groq Llama 3.1 generates source-cited answer.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108960"/>
            <a:ext cx="10728655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600" b="1">
                <a:solidFill>
                  <a:srgbClr val="1E3A8A"/>
                </a:solidFill>
              </a:defRPr>
            </a:pPr>
            <a:r>
              <a:t>Key System Functional Modules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57600"/>
            <a:ext cx="4937760" cy="68580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defRPr b="1" sz="1100">
                <a:solidFill>
                  <a:srgbClr val="2563EB"/>
                </a:solidFill>
              </a:defRPr>
            </a:pPr>
            <a:r>
              <a:t>✔ PDF Bulletin Processing: </a:t>
            </a:r>
            <a:r>
              <a:rPr b="0" sz="1100">
                <a:solidFill>
                  <a:srgbClr val="1E293B"/>
                </a:solidFill>
              </a:rPr>
              <a:t>Handles multi-page PDF uploads, handles minor layout variances, extracts structured NOTAM blocks.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434840"/>
            <a:ext cx="4937760" cy="68580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defRPr b="1" sz="1100">
                <a:solidFill>
                  <a:srgbClr val="2563EB"/>
                </a:solidFill>
              </a:defRPr>
            </a:pPr>
            <a:r>
              <a:t>✔ Contraction Decoder: </a:t>
            </a:r>
            <a:r>
              <a:rPr b="0" sz="1100">
                <a:solidFill>
                  <a:srgbClr val="1E293B"/>
                </a:solidFill>
              </a:rPr>
              <a:t>Expands standardized aviation contractions while retaining exact time windows, identifiers, and coordinates.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212080"/>
            <a:ext cx="4937760" cy="68580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defRPr b="1" sz="1100">
                <a:solidFill>
                  <a:srgbClr val="2563EB"/>
                </a:solidFill>
              </a:defRPr>
            </a:pPr>
            <a:r>
              <a:t>✔ Hybrid Metadata Filtering: </a:t>
            </a:r>
            <a:r>
              <a:rPr b="0" sz="1100">
                <a:solidFill>
                  <a:srgbClr val="1E293B"/>
                </a:solidFill>
              </a:rPr>
              <a:t>Combines ChromaDB vector semantic similarity with MongoDB metadata filtering (airport code, severity).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3657600"/>
            <a:ext cx="4937760" cy="68580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defRPr b="1" sz="1100">
                <a:solidFill>
                  <a:srgbClr val="2563EB"/>
                </a:solidFill>
              </a:defRPr>
            </a:pPr>
            <a:r>
              <a:t>✔ Analytics Dashboard: </a:t>
            </a:r>
            <a:r>
              <a:rPr b="0" sz="1100">
                <a:solidFill>
                  <a:srgbClr val="1E293B"/>
                </a:solidFill>
              </a:rPr>
              <a:t>Provides visual breakdown of active NOTAMs by severity (Critical, Warning, Info) and airport location.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4434840"/>
            <a:ext cx="4937760" cy="68580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defRPr b="1" sz="1100">
                <a:solidFill>
                  <a:srgbClr val="2563EB"/>
                </a:solidFill>
              </a:defRPr>
            </a:pPr>
            <a:r>
              <a:t>✔ User Bookmarking: </a:t>
            </a:r>
            <a:r>
              <a:rPr b="0" sz="1100">
                <a:solidFill>
                  <a:srgbClr val="1E293B"/>
                </a:solidFill>
              </a:rPr>
              <a:t>Enables pilots and dispatchers to persist specific decoded NOTAMs for instant pre-flight briefing retrieval.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5212080"/>
            <a:ext cx="4937760" cy="68580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defRPr b="1" sz="1100">
                <a:solidFill>
                  <a:srgbClr val="2563EB"/>
                </a:solidFill>
              </a:defRPr>
            </a:pPr>
            <a:r>
              <a:t>✔ RBAC &amp; Security Controls: </a:t>
            </a:r>
            <a:r>
              <a:rPr b="0" sz="1100">
                <a:solidFill>
                  <a:srgbClr val="1E293B"/>
                </a:solidFill>
              </a:rPr>
              <a:t>Implements role-based access for Pilots, Controllers, Dispatchers, and Admins with HTTP-only cookies.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t>AIRPORTS AUTHORITY OF INDIA | IT DEPARTMENT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System Testing, Results &amp; Engineering Observations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AI-Powered NOTAM Assistant | Retrieval Augmented Generation (RAG) System</a:t>
            </a:r>
          </a:p>
          <a:p>
            <a:pPr algn="r">
              <a:defRPr sz="900" b="1">
                <a:solidFill>
                  <a:srgbClr val="2563EB"/>
                </a:solidFill>
                <a:latin typeface="Calibri"/>
              </a:defRPr>
            </a:pPr>
            <a:r>
              <a:t>Slide 5 of 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342900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182880" rIns="182880"/>
          <a:lstStyle/>
          <a:p>
            <a:pPr algn="ctr">
              <a:defRPr sz="1600" b="1">
                <a:solidFill>
                  <a:srgbClr val="1E3A8A"/>
                </a:solidFill>
              </a:defRPr>
            </a:pPr>
            <a:r>
              <a:t>Decoding Fidelity</a:t>
            </a:r>
          </a:p>
          <a:p>
            <a:pPr>
              <a:defRPr sz="1000" b="1">
                <a:solidFill>
                  <a:srgbClr val="10B981"/>
                </a:solidFill>
              </a:defRPr>
            </a:pPr>
            <a:r>
              <a:t>SAMPLE NOTAM DECODING</a:t>
            </a:r>
          </a:p>
          <a:p>
            <a:pPr>
              <a:defRPr b="1" sz="1100">
                <a:solidFill>
                  <a:srgbClr val="1E293B"/>
                </a:solidFill>
              </a:defRPr>
            </a:pPr>
            <a:r>
              <a:t>• Raw Input: </a:t>
            </a:r>
            <a:r>
              <a:rPr b="0" sz="1050">
                <a:solidFill>
                  <a:srgbClr val="64748B"/>
                </a:solidFill>
              </a:rPr>
              <a:t>TWY C CLSD FOR MAINT WEF 2407220400 TO 2407221200.</a:t>
            </a:r>
          </a:p>
          <a:p>
            <a:pPr>
              <a:defRPr b="1" sz="1100">
                <a:solidFill>
                  <a:srgbClr val="1E293B"/>
                </a:solidFill>
              </a:defRPr>
            </a:pPr>
            <a:r>
              <a:t>• Decoded Output: </a:t>
            </a:r>
            <a:r>
              <a:rPr b="0" sz="1050">
                <a:solidFill>
                  <a:srgbClr val="64748B"/>
                </a:solidFill>
              </a:rPr>
              <a:t>Taxiway C is closed for maintenance from 22 July 2024 at 04:00 UTC to 12:00 UTC.</a:t>
            </a:r>
          </a:p>
          <a:p>
            <a:pPr>
              <a:defRPr b="1" sz="1100">
                <a:solidFill>
                  <a:srgbClr val="1E293B"/>
                </a:solidFill>
              </a:defRPr>
            </a:pPr>
            <a:r>
              <a:t>• Fidelity Verification: </a:t>
            </a:r>
            <a:r>
              <a:rPr b="0" sz="1050">
                <a:solidFill>
                  <a:srgbClr val="64748B"/>
                </a:solidFill>
              </a:rPr>
              <a:t>Preserved exact dates, times, and taxiway identifier without altering operational context.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342900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343400" y="1371600"/>
            <a:ext cx="342900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182880" rIns="182880"/>
          <a:lstStyle/>
          <a:p>
            <a:pPr algn="ctr">
              <a:defRPr sz="1600" b="1">
                <a:solidFill>
                  <a:srgbClr val="1E3A8A"/>
                </a:solidFill>
              </a:defRPr>
            </a:pPr>
            <a:r>
              <a:t>Grounded Accuracy</a:t>
            </a:r>
          </a:p>
          <a:p>
            <a:pPr>
              <a:defRPr sz="1000" b="1">
                <a:solidFill>
                  <a:srgbClr val="2563EB"/>
                </a:solidFill>
              </a:defRPr>
            </a:pPr>
            <a:r>
              <a:t>RAG CHAT VERIFICATION</a:t>
            </a:r>
          </a:p>
          <a:p>
            <a:pPr>
              <a:defRPr b="1" sz="1100">
                <a:solidFill>
                  <a:srgbClr val="1E293B"/>
                </a:solidFill>
              </a:defRPr>
            </a:pPr>
            <a:r>
              <a:t>• Direct Operational Query: </a:t>
            </a:r>
            <a:r>
              <a:rPr b="0" sz="1050">
                <a:solidFill>
                  <a:srgbClr val="64748B"/>
                </a:solidFill>
              </a:rPr>
              <a:t>'Is Runway 09 closed at VIDP?' -&gt; Correctly retrieved relevant notice &amp; cited source ID.</a:t>
            </a:r>
          </a:p>
          <a:p>
            <a:pPr>
              <a:defRPr b="1" sz="1100">
                <a:solidFill>
                  <a:srgbClr val="1E293B"/>
                </a:solidFill>
              </a:defRPr>
            </a:pPr>
            <a:r>
              <a:t>• Out-of-Scope Query: </a:t>
            </a:r>
            <a:r>
              <a:rPr b="0" sz="1050">
                <a:solidFill>
                  <a:srgbClr val="64748B"/>
                </a:solidFill>
              </a:rPr>
              <a:t>'Provide weather forecast' -&gt; Refused answer &amp; stated info not present in indexed NOTAMs.</a:t>
            </a:r>
          </a:p>
          <a:p>
            <a:pPr>
              <a:defRPr b="1" sz="1100">
                <a:solidFill>
                  <a:srgbClr val="1E293B"/>
                </a:solidFill>
              </a:defRPr>
            </a:pPr>
            <a:r>
              <a:t>• Safety Significance: </a:t>
            </a:r>
            <a:r>
              <a:rPr b="0" sz="1050">
                <a:solidFill>
                  <a:srgbClr val="64748B"/>
                </a:solidFill>
              </a:rPr>
              <a:t>Zero hallucination observed under strict system prompt grounding constraints.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1371600"/>
            <a:ext cx="3429000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955280" y="1371600"/>
            <a:ext cx="342900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182880" rIns="182880"/>
          <a:lstStyle/>
          <a:p>
            <a:pPr algn="ctr">
              <a:defRPr sz="1600" b="1">
                <a:solidFill>
                  <a:srgbClr val="1E3A8A"/>
                </a:solidFill>
              </a:defRPr>
            </a:pPr>
            <a:r>
              <a:t>Performance Optimization</a:t>
            </a:r>
          </a:p>
          <a:p>
            <a:pPr>
              <a:defRPr sz="1000" b="1">
                <a:solidFill>
                  <a:srgbClr val="F59E0B"/>
                </a:solidFill>
              </a:defRPr>
            </a:pPr>
            <a:r>
              <a:t>LATENCY &amp; MICROSERVICES</a:t>
            </a:r>
          </a:p>
          <a:p>
            <a:pPr>
              <a:defRPr b="1" sz="1100">
                <a:solidFill>
                  <a:srgbClr val="1E293B"/>
                </a:solidFill>
              </a:defRPr>
            </a:pPr>
            <a:r>
              <a:t>• Batch Decoding: </a:t>
            </a:r>
            <a:r>
              <a:rPr b="0" sz="1050">
                <a:solidFill>
                  <a:srgbClr val="64748B"/>
                </a:solidFill>
              </a:rPr>
              <a:t>Batching NOTAM blocks into single LLM inference calls dramatically reduced document ingestion time.</a:t>
            </a:r>
          </a:p>
          <a:p>
            <a:pPr>
              <a:defRPr b="1" sz="1100">
                <a:solidFill>
                  <a:srgbClr val="1E293B"/>
                </a:solidFill>
              </a:defRPr>
            </a:pPr>
            <a:r>
              <a:t>• Local Embeddings: </a:t>
            </a:r>
            <a:r>
              <a:rPr b="0" sz="1050">
                <a:solidFill>
                  <a:srgbClr val="64748B"/>
                </a:solidFill>
              </a:rPr>
              <a:t>Local SentenceTransformers execution removed dependency on external embedding APIs.</a:t>
            </a:r>
          </a:p>
          <a:p>
            <a:pPr>
              <a:defRPr b="1" sz="1100">
                <a:solidFill>
                  <a:srgbClr val="1E293B"/>
                </a:solidFill>
              </a:defRPr>
            </a:pPr>
            <a:r>
              <a:t>• Service Decoupling: </a:t>
            </a:r>
            <a:r>
              <a:rPr b="0" sz="1050">
                <a:solidFill>
                  <a:srgbClr val="64748B"/>
                </a:solidFill>
              </a:rPr>
              <a:t>Independent testing of FastAPI, Express Gateway, and React UI streamlined bug isolation.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55280" y="1371600"/>
            <a:ext cx="3429000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SUMMARY &amp; STRATEGIC ROADMAP</a:t>
            </a:r>
          </a:p>
          <a:p>
            <a:pPr>
              <a:defRPr sz="2600" b="1">
                <a:solidFill>
                  <a:srgbClr val="FFFFFF"/>
                </a:solidFill>
              </a:defRPr>
            </a:pPr>
            <a:r>
              <a:t>Conclusion &amp; Future Development Roadmap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663440"/>
          </a:xfrm>
          <a:prstGeom prst="roundRect">
            <a:avLst/>
          </a:prstGeom>
          <a:solidFill>
            <a:srgbClr val="1E293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600" b="1">
                <a:solidFill>
                  <a:srgbClr val="0EA5E9"/>
                </a:solidFill>
              </a:defRPr>
            </a:pPr>
            <a:r>
              <a:t>Key Internship Deliverables &amp; Outcomes</a:t>
            </a:r>
          </a:p>
          <a:p>
            <a:pPr>
              <a:defRPr b="1" sz="1100">
                <a:solidFill>
                  <a:srgbClr val="FFFFFF"/>
                </a:solidFill>
              </a:defRPr>
            </a:pPr>
            <a:r>
              <a:t>✔ Working End-to-End Prototype: </a:t>
            </a:r>
            <a:r>
              <a:rPr b="0" sz="1100">
                <a:solidFill>
                  <a:srgbClr val="CBD5E1"/>
                </a:solidFill>
              </a:rPr>
              <a:t>Successfully built and demonstrated a full-stack RAG assistant for NOTAM bulletin processing during 5-week training.</a:t>
            </a:r>
          </a:p>
          <a:p>
            <a:pPr>
              <a:defRPr b="1" sz="1100">
                <a:solidFill>
                  <a:srgbClr val="FFFFFF"/>
                </a:solidFill>
              </a:defRPr>
            </a:pPr>
            <a:r>
              <a:t>✔ Source-Grounded Accuracy: </a:t>
            </a:r>
            <a:r>
              <a:rPr b="0" sz="1100">
                <a:solidFill>
                  <a:srgbClr val="CBD5E1"/>
                </a:solidFill>
              </a:rPr>
              <a:t>Established strict prompt boundaries preventing LLM hallucinations and ensuring complete answer traceability.</a:t>
            </a:r>
          </a:p>
          <a:p>
            <a:pPr>
              <a:defRPr b="1" sz="1100">
                <a:solidFill>
                  <a:srgbClr val="FFFFFF"/>
                </a:solidFill>
              </a:defRPr>
            </a:pPr>
            <a:r>
              <a:t>✔ Production-Style Microservices: </a:t>
            </a:r>
            <a:r>
              <a:rPr b="0" sz="1100">
                <a:solidFill>
                  <a:srgbClr val="CBD5E1"/>
                </a:solidFill>
              </a:rPr>
              <a:t>Engineered a scalable 3-tier architecture (React, Node.js, Python/FastAPI) separating presentation, routing, and AI logic.</a:t>
            </a:r>
          </a:p>
          <a:p>
            <a:pPr>
              <a:defRPr b="1" sz="1100">
                <a:solidFill>
                  <a:srgbClr val="FFFFFF"/>
                </a:solidFill>
              </a:defRPr>
            </a:pPr>
            <a:r>
              <a:t>✔ Domain-Oriented Learning: </a:t>
            </a:r>
            <a:r>
              <a:rPr b="0" sz="1100">
                <a:solidFill>
                  <a:srgbClr val="CBD5E1"/>
                </a:solidFill>
              </a:rPr>
              <a:t>Gained practical experience bridging CS engineering concepts with real-world public-sector aviation requirements at AAI NR Headquarters.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663440"/>
          </a:xfrm>
          <a:prstGeom prst="round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600" b="1">
                <a:solidFill>
                  <a:srgbClr val="0EA5E9"/>
                </a:solidFill>
              </a:defRPr>
            </a:pPr>
            <a:r>
              <a:t>Phased Operational Roadmap</a:t>
            </a:r>
          </a:p>
          <a:p>
            <a:pPr>
              <a:defRPr b="1" sz="1200">
                <a:solidFill>
                  <a:srgbClr val="2563EB"/>
                </a:solidFill>
              </a:defRPr>
            </a:pPr>
            <a:r>
              <a:t>Phase 1: Validation &amp; Hardening (Short-Term)</a:t>
            </a:r>
          </a:p>
          <a:p>
            <a:pPr>
              <a:defRPr sz="1050">
                <a:solidFill>
                  <a:srgbClr val="E2E8F0"/>
                </a:solidFill>
              </a:defRPr>
            </a:pPr>
            <a:r>
              <a:t>  • Formal accuracy evaluation of contraction decoding against larger AAI benchmark datasets.</a:t>
            </a:r>
          </a:p>
          <a:p>
            <a:pPr>
              <a:defRPr sz="1050">
                <a:solidFill>
                  <a:srgbClr val="E2E8F0"/>
                </a:solidFill>
              </a:defRPr>
            </a:pPr>
            <a:r>
              <a:t>  • Enterprise security review, penetration testing, and identity integration.</a:t>
            </a:r>
          </a:p>
          <a:p>
            <a:pPr>
              <a:defRPr b="1" sz="1200">
                <a:solidFill>
                  <a:srgbClr val="2563EB"/>
                </a:solidFill>
              </a:defRPr>
            </a:pPr>
            <a:r>
              <a:t>Phase 2: Live Integration (Medium-Term)</a:t>
            </a:r>
          </a:p>
          <a:p>
            <a:pPr>
              <a:defRPr sz="1050">
                <a:solidFill>
                  <a:srgbClr val="E2E8F0"/>
                </a:solidFill>
              </a:defRPr>
            </a:pPr>
            <a:r>
              <a:t>  • Integration with live operational NOTAM feeds (FAA/ICAO Digital NOTAM APIs).</a:t>
            </a:r>
          </a:p>
          <a:p>
            <a:pPr>
              <a:defRPr sz="1050">
                <a:solidFill>
                  <a:srgbClr val="E2E8F0"/>
                </a:solidFill>
              </a:defRPr>
            </a:pPr>
            <a:r>
              <a:t>  • Transition from local ChromaDB/MongoDB to managed cloud cluster infrastructure.</a:t>
            </a:r>
          </a:p>
          <a:p>
            <a:pPr>
              <a:defRPr b="1" sz="1200">
                <a:solidFill>
                  <a:srgbClr val="2563EB"/>
                </a:solidFill>
              </a:defRPr>
            </a:pPr>
            <a:r>
              <a:t>Phase 3: Ecosystem Expansion (Long-Term)</a:t>
            </a:r>
          </a:p>
          <a:p>
            <a:pPr>
              <a:defRPr sz="1050">
                <a:solidFill>
                  <a:srgbClr val="E2E8F0"/>
                </a:solidFill>
              </a:defRPr>
            </a:pPr>
            <a:r>
              <a:t>  • Broadening RAG scope to AIP supplements, circulars, and weather advisories.</a:t>
            </a:r>
          </a:p>
          <a:p>
            <a:pPr>
              <a:defRPr sz="1050">
                <a:solidFill>
                  <a:srgbClr val="E2E8F0"/>
                </a:solidFill>
              </a:defRPr>
            </a:pPr>
            <a:r>
              <a:t>  • Developing native mobile applications for pilot cockpits and handheld dispatch units.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0936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AI-Powered NOTAM Assistant | Airports Authority of India (AAI) Internship Project</a:t>
            </a:r>
          </a:p>
          <a:p>
            <a:pPr algn="r">
              <a:defRPr sz="900" b="1">
                <a:solidFill>
                  <a:srgbClr val="0EA5E9"/>
                </a:solidFill>
              </a:defRPr>
            </a:pPr>
            <a:r>
              <a:t>Slide 6 of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